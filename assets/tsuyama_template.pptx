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7"/>
  </p:notesMasterIdLst>
  <p:sldIdLst/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C77E23-B3A8-9912-9D2D-FDF1AA4ABE9D}" name="riko.morinaga0418@keio.jp" initials="r" userId="S::riko.morinaga0418@keio.jp::3c4f645a-d085-40c2-abde-0b1b69a264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375F"/>
    <a:srgbClr val="FFFCFC"/>
    <a:srgbClr val="FFFFFF"/>
    <a:srgbClr val="007BB8"/>
    <a:srgbClr val="595A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CCD9D-46E6-F03F-3BD1-92FD11E4BF8F}" v="731" vWet="732" dt="2026-06-15T14:39:36.875"/>
    <p1510:client id="{70019CAE-9EBF-6544-8466-54EDBE3BC581}" v="1621" dt="2026-06-15T14:56:00.463"/>
    <p1510:client id="{CE064500-6EBC-0B42-BE0B-9AE612BBEB23}" v="2028" dt="2026-06-15T14:59:39.325"/>
    <p1510:client id="{D10B616A-493A-C88C-D84E-E88F2D0CE30C}" v="102" dt="2026-06-15T14:58:38.890"/>
    <p1510:client id="{D90D51DB-6E22-074C-AF7D-8956FC977B3F}" v="1592" dt="2026-06-15T14:57:00.7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Relationship Id="rId23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B9597-86E4-D641-8A66-8594897B4769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DFECC9-EBCD-4D4E-AD63-29470A9808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3149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8218F-5EAA-8241-A2AB-4E61D98F6DC8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3985-57D1-0F45-8C11-1027D8D27C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896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8218F-5EAA-8241-A2AB-4E61D98F6DC8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3985-57D1-0F45-8C11-1027D8D27C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447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8218F-5EAA-8241-A2AB-4E61D98F6DC8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3985-57D1-0F45-8C11-1027D8D27C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142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8218F-5EAA-8241-A2AB-4E61D98F6DC8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3985-57D1-0F45-8C11-1027D8D27C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5163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8218F-5EAA-8241-A2AB-4E61D98F6DC8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3985-57D1-0F45-8C11-1027D8D27C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7809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8218F-5EAA-8241-A2AB-4E61D98F6DC8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3985-57D1-0F45-8C11-1027D8D27C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491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8218F-5EAA-8241-A2AB-4E61D98F6DC8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3985-57D1-0F45-8C11-1027D8D27C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1571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8218F-5EAA-8241-A2AB-4E61D98F6DC8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3985-57D1-0F45-8C11-1027D8D27C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208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8218F-5EAA-8241-A2AB-4E61D98F6DC8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3985-57D1-0F45-8C11-1027D8D27C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0371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8218F-5EAA-8241-A2AB-4E61D98F6DC8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3985-57D1-0F45-8C11-1027D8D27C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069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8218F-5EAA-8241-A2AB-4E61D98F6DC8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B3985-57D1-0F45-8C11-1027D8D27C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9274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基本スライド">
    <p:bg>
      <p:bgPr>
        <a:solidFill>
          <a:srgbClr val="F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7066" y="235918"/>
            <a:ext cx="9491871" cy="923786"/>
          </a:xfrm>
          <a:prstGeom prst="rect">
            <a:avLst/>
          </a:prstGeom>
        </p:spPr>
        <p:txBody>
          <a:bodyPr/>
          <a:lstStyle>
            <a:lvl1pPr>
              <a:defRPr sz="2275" b="1" i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Message</a:t>
            </a:r>
            <a:endParaRPr 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74493ACA-F716-A4FE-AD43-A08F263D55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7066" y="1190040"/>
            <a:ext cx="9491869" cy="433387"/>
          </a:xfrm>
          <a:prstGeom prst="rect">
            <a:avLst/>
          </a:prstGeom>
        </p:spPr>
        <p:txBody>
          <a:bodyPr/>
          <a:lstStyle>
            <a:lvl1pPr>
              <a:buNone/>
              <a:defRPr sz="1625" b="1" i="0">
                <a:solidFill>
                  <a:srgbClr val="B6375F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Title</a:t>
            </a:r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FFFFD59-4C08-373F-CB66-2601C99CDEF0}"/>
              </a:ext>
            </a:extLst>
          </p:cNvPr>
          <p:cNvSpPr txBox="1"/>
          <p:nvPr userDrawn="1"/>
        </p:nvSpPr>
        <p:spPr>
          <a:xfrm>
            <a:off x="207064" y="6483583"/>
            <a:ext cx="2087431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75" b="1" i="1">
                <a:solidFill>
                  <a:srgbClr val="B6375F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Keio University: Takumi Lab.</a:t>
            </a:r>
            <a:endParaRPr kumimoji="1" lang="ja-JP" altLang="en-US" sz="975" b="1" i="1">
              <a:solidFill>
                <a:srgbClr val="B6375F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9CB1706-9176-02D4-9D66-7B0FF8D3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3470" y="6468349"/>
            <a:ext cx="573157" cy="337930"/>
          </a:xfrm>
          <a:prstGeom prst="rect">
            <a:avLst/>
          </a:prstGeom>
        </p:spPr>
        <p:txBody>
          <a:bodyPr anchor="ctr"/>
          <a:lstStyle>
            <a:lvl1pPr algn="ctr">
              <a:defRPr sz="894" b="1" i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6BD95558-B613-3A4E-A51D-6BA90FC4B562}" type="slidenum">
              <a:rPr kumimoji="1" lang="ja-JP" altLang="en-US" smtClean="0"/>
              <a:pPr/>
              <a:t>‹#›</a:t>
            </a:fld>
            <a:endParaRPr kumimoji="1" lang="ja-JP" altLang="en-US" sz="894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561992A-5AA2-F71F-8105-767D10D7D9CC}"/>
              </a:ext>
            </a:extLst>
          </p:cNvPr>
          <p:cNvSpPr/>
          <p:nvPr userDrawn="1"/>
        </p:nvSpPr>
        <p:spPr>
          <a:xfrm>
            <a:off x="207066" y="1653757"/>
            <a:ext cx="9491869" cy="4727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62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011311BC-877B-2483-015A-A74B257FF8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51923" y="6483582"/>
            <a:ext cx="6112565" cy="307464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975" b="0" i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kumimoji="1" lang="en-US" altLang="ja-JP"/>
              <a:t>Reference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1864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 スライ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2950" y="2911440"/>
            <a:ext cx="8420100" cy="1035120"/>
          </a:xfrm>
          <a:prstGeom prst="rect">
            <a:avLst/>
          </a:prstGeom>
        </p:spPr>
        <p:txBody>
          <a:bodyPr anchor="ctr"/>
          <a:lstStyle>
            <a:lvl1pPr algn="ctr">
              <a:defRPr sz="4387" b="1" i="0">
                <a:solidFill>
                  <a:srgbClr val="B6375F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/>
              <a:t>Big Message</a:t>
            </a:r>
          </a:p>
        </p:txBody>
      </p:sp>
    </p:spTree>
    <p:extLst>
      <p:ext uri="{BB962C8B-B14F-4D97-AF65-F5344CB8AC3E}">
        <p14:creationId xmlns:p14="http://schemas.microsoft.com/office/powerpoint/2010/main" val="1188126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B8218F-5EAA-8241-A2AB-4E61D98F6DC8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B3985-57D1-0F45-8C11-1027D8D27C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86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2404</Words>
  <Application>Microsoft Macintosh PowerPoint</Application>
  <PresentationFormat>A4 210 x 297 mm</PresentationFormat>
  <Paragraphs>339</Paragraphs>
  <Slides>15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4" baseType="lpstr">
      <vt:lpstr>Meiryo UI</vt:lpstr>
      <vt:lpstr>Yu Gothic</vt:lpstr>
      <vt:lpstr>Yu Gothic</vt:lpstr>
      <vt:lpstr>Aptos</vt:lpstr>
      <vt:lpstr>Aptos Display</vt:lpstr>
      <vt:lpstr>Arial</vt:lpstr>
      <vt:lpstr>Courier New</vt:lpstr>
      <vt:lpstr>Wingdings</vt:lpstr>
      <vt:lpstr>Office テーマ</vt:lpstr>
      <vt:lpstr>PowerPoint プレゼンテーション</vt:lpstr>
      <vt:lpstr>ポータルサイトに紐づいた共通IDと食事/健康/電子申請アプリのデータを連携させ、包括的に住民を支援する基盤がある</vt:lpstr>
      <vt:lpstr>特に食と運動のデータ連携においてはアプリ運用を開始しており、栄養士による個別指導が市民に対して実施されている</vt:lpstr>
      <vt:lpstr>津山市はアプリのリリースとID連携によるデータ収集の基盤は整備できている一方で、分析と政策立案についてほぼ未着手である</vt:lpstr>
      <vt:lpstr>①政策立案の支援と②健康意識の醸成の2つの価値提供が 可能である中、津山市の意向を踏まえ①を優先的に取り組む</vt:lpstr>
      <vt:lpstr>提供価値を3つのレベルに分類し、まずは政策立案支援のLv.1であるデータからの課題特定と解決策提案に取り組む</vt:lpstr>
      <vt:lpstr>とはいえいつまでも 理想を並べているわけにもいきません</vt:lpstr>
      <vt:lpstr>少しでも価値のある アウトプットを出すためにまずは...</vt:lpstr>
      <vt:lpstr>SIRU+とkencomのユーザー基本情報、アプリ利用におけるユーザーデータを取得する必要がある</vt:lpstr>
      <vt:lpstr>それらのアプリデータから取れる基本的なデータを組み合わせ、 津山市民の栄養/運動情報分析リストを作成した</vt:lpstr>
      <vt:lpstr>アプリからの基本データによる分析マトリクスから、津山市民の健康課題の特定を狙う</vt:lpstr>
      <vt:lpstr>基本データの分析におけるダーミーデータによる分析結果のイメージは以下の通りであり、棒グラフなどでの単純なデータの可視化を想定している</vt:lpstr>
      <vt:lpstr>かけ合わせによる健康課題の特定の分析においては、棒グラフや散布図などを用いて相関関係の導出を行う</vt:lpstr>
      <vt:lpstr>データ収集・分析における懸念点は、データの信憑性と母集団の偏りの2点ある</vt:lpstr>
      <vt:lpstr>1年を通じて、①分析データから示唆を出した健康課題に対する政策立案と、②健康意識醸成における解決策を実行する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riko.morinaga0418@keio.jp</dc:creator>
  <cp:lastModifiedBy>yuki_wakimura@keio.jp</cp:lastModifiedBy>
  <cp:revision>77</cp:revision>
  <cp:lastPrinted>2026-06-15T12:34:58Z</cp:lastPrinted>
  <dcterms:created xsi:type="dcterms:W3CDTF">2026-06-12T10:55:39Z</dcterms:created>
  <dcterms:modified xsi:type="dcterms:W3CDTF">2026-06-15T15:00:12Z</dcterms:modified>
</cp:coreProperties>
</file>